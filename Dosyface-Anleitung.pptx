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305" r:id="rId4"/>
    <p:sldId id="256" r:id="rId5"/>
    <p:sldId id="258" r:id="rId6"/>
    <p:sldId id="259" r:id="rId7"/>
    <p:sldId id="260" r:id="rId8"/>
    <p:sldId id="261" r:id="rId9"/>
    <p:sldId id="262" r:id="rId10"/>
    <p:sldId id="306" r:id="rId11"/>
    <p:sldId id="307" r:id="rId12"/>
    <p:sldId id="308" r:id="rId13"/>
    <p:sldId id="311" r:id="rId14"/>
    <p:sldId id="312" r:id="rId15"/>
    <p:sldId id="309" r:id="rId16"/>
    <p:sldId id="314" r:id="rId17"/>
    <p:sldId id="310" r:id="rId18"/>
    <p:sldId id="313" r:id="rId19"/>
    <p:sldId id="315" r:id="rId20"/>
    <p:sldId id="316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E1A44-906A-EB35-FD76-EC34D601A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5C304-4964-A9F1-9493-C18DE10C9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33D06-4311-6DBA-C009-8C9055BEB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3433-DBE8-4EBA-91BD-D5EB84C0ED83}" type="datetimeFigureOut">
              <a:rPr lang="de-DE" smtClean="0"/>
              <a:t>18.08.2025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C673B-A38A-E50E-9284-CC6D8C93B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2C76D-53E1-C4B1-9C00-400DB572E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6070-D292-4DB8-98D6-A00AA7E6B3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1940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1046B-A53E-A367-805C-15B0B1DA1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D477F-A58F-1DFD-321E-B3C914D41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7069C-6D1D-E115-A58A-FB64F8362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3433-DBE8-4EBA-91BD-D5EB84C0ED83}" type="datetimeFigureOut">
              <a:rPr lang="de-DE" smtClean="0"/>
              <a:t>18.08.2025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9B30E-4429-ED89-1371-344DB6C87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456F2-878E-56A8-6F41-27F3B1F4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6070-D292-4DB8-98D6-A00AA7E6B3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537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3C5E-5016-CC95-9244-D11C270A2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F962A-3638-9B98-C1E4-BC3CC5C5A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1874-693E-D29D-EF34-A70D83441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3433-DBE8-4EBA-91BD-D5EB84C0ED83}" type="datetimeFigureOut">
              <a:rPr lang="de-DE" smtClean="0"/>
              <a:t>18.08.2025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AD5C-1B26-E76A-AB5E-AA8E3DB2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BD48B-6594-98C0-21A5-EDFD8FBD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6070-D292-4DB8-98D6-A00AA7E6B3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851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7E7DE-2917-56CF-EAF2-AAD41E085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318F0-DE11-C43B-88E8-C60D2987B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68A76-ABA9-698C-E7C7-F15B156DC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A91C90-8812-3C48-4C02-BEB92FEF8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3433-DBE8-4EBA-91BD-D5EB84C0ED83}" type="datetimeFigureOut">
              <a:rPr lang="de-DE" smtClean="0"/>
              <a:t>18.08.2025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6C711-BE20-8CEE-B314-967D95CEF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A1D54-B709-F0B3-F823-6B7C67326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6070-D292-4DB8-98D6-A00AA7E6B3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8128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FDC05-7A25-B7E9-D7FA-D55E582C1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8A834-8DAD-2D4A-DD2F-A55256E37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20711-2851-0DCC-D07F-B0F9B4280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AF0FFD-F811-8496-1D73-ADA41F249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7609D4-FE24-D3EC-C2C5-14BEE181F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C42721-B83B-F99D-C175-9FFE6836D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3433-DBE8-4EBA-91BD-D5EB84C0ED83}" type="datetimeFigureOut">
              <a:rPr lang="de-DE" smtClean="0"/>
              <a:t>18.08.2025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23E339-7461-4DB9-087E-9472FF01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8BCCD4-67E3-6D0C-FF97-298F51221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6070-D292-4DB8-98D6-A00AA7E6B3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120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8F776-EF1F-07F3-BF25-B3C3E8C3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917708-DDA8-7D6F-EE4D-C36ECA865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3433-DBE8-4EBA-91BD-D5EB84C0ED83}" type="datetimeFigureOut">
              <a:rPr lang="de-DE" smtClean="0"/>
              <a:t>18.08.2025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9315D-9753-923E-0F49-688D65140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F316A-98F8-F8D2-16D7-6A9696AC6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6070-D292-4DB8-98D6-A00AA7E6B3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049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169B6-0DCA-5E32-F9BB-EFF4265DB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3433-DBE8-4EBA-91BD-D5EB84C0ED83}" type="datetimeFigureOut">
              <a:rPr lang="de-DE" smtClean="0"/>
              <a:t>18.08.2025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AA2810-88B5-9E4D-86F8-5CBAA42E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8C7C8-7FAA-3796-0537-046EE8EB6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6070-D292-4DB8-98D6-A00AA7E6B3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5491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E35E1-3950-FB6B-86BE-A680621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1B026-A198-5C3F-EA6C-EEF7498FD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F59FB-EA31-627D-6B27-9A71E278F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50F17-52D3-3EE4-0CFD-41857F128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3433-DBE8-4EBA-91BD-D5EB84C0ED83}" type="datetimeFigureOut">
              <a:rPr lang="de-DE" smtClean="0"/>
              <a:t>18.08.2025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4DC4A-573E-48D4-A83B-EA122113F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A51F1-869E-C917-3CD9-F38D422AF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6070-D292-4DB8-98D6-A00AA7E6B3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9524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D005C-51B0-AE63-0555-2BAB871FD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ACDEE-DC15-1AAD-9312-ED4C5BE4CB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FA3D98-98C6-601F-B803-02CCF0DE4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81816-DC38-39C9-6687-3076F019D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3433-DBE8-4EBA-91BD-D5EB84C0ED83}" type="datetimeFigureOut">
              <a:rPr lang="de-DE" smtClean="0"/>
              <a:t>18.08.2025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E6CEF-4036-057C-B632-F98934A68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E51A4-9D99-FC1E-7F39-08C519A75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6070-D292-4DB8-98D6-A00AA7E6B3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9501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D4D38-9D3A-2F60-4257-EEA22E0F8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CCC49-6201-9499-9EA8-C76B0650E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8C60B-7396-D647-255D-BAE5A29A2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3433-DBE8-4EBA-91BD-D5EB84C0ED83}" type="datetimeFigureOut">
              <a:rPr lang="de-DE" smtClean="0"/>
              <a:t>18.08.2025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FE3DF-B7A2-B528-8741-93703CA1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04496-BDCA-1948-84E6-32B97A291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6070-D292-4DB8-98D6-A00AA7E6B3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019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DE9493-6D1E-1B51-167E-5429A5C00D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FA020-E1A7-AC4A-43B4-349323F4A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8F262-CF48-E925-37BB-20E54A776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C3433-DBE8-4EBA-91BD-D5EB84C0ED83}" type="datetimeFigureOut">
              <a:rPr lang="de-DE" smtClean="0"/>
              <a:t>18.08.2025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75F33-DAC0-9CBE-5892-63D02DC15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195E3-DB9C-7EC6-D95E-455861BD1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6070-D292-4DB8-98D6-A00AA7E6B3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766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30DF07-924C-436F-47CB-E1F9631EF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1D993-5808-C348-1C05-8709CD4CB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2B199-85BA-31B0-CFDE-384884827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4C3433-DBE8-4EBA-91BD-D5EB84C0ED83}" type="datetimeFigureOut">
              <a:rPr lang="de-DE" smtClean="0"/>
              <a:t>18.08.2025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F86BE-47C8-E221-C7B6-401A6575E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1F136-BC8E-31E4-6462-202E6DFB85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A6070-D292-4DB8-98D6-A00AA7E6B3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8256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9EC92-AB54-10C6-8C00-6B69EF89D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DOSYFACE - Diffusion Order Spectroscopy -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93344-45A7-CF0F-EB88-A62CF1526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Calculating the Diffusion Coefficient requires script base processing of multiple datasets. </a:t>
            </a:r>
          </a:p>
          <a:p>
            <a:endParaRPr lang="de-DE" dirty="0"/>
          </a:p>
          <a:p>
            <a:r>
              <a:rPr lang="de-DE" dirty="0"/>
              <a:t>Interface could facilitate faster evaluation of data quality based on easy clickable tools for everybody who is not able to write own evaluation script</a:t>
            </a:r>
          </a:p>
          <a:p>
            <a:r>
              <a:rPr lang="de-DE" dirty="0"/>
              <a:t>1500 lines of code</a:t>
            </a:r>
          </a:p>
          <a:p>
            <a:r>
              <a:rPr lang="de-DE" dirty="0"/>
              <a:t>13.5 Version – v14 is not succesfull</a:t>
            </a:r>
          </a:p>
          <a:p>
            <a:r>
              <a:rPr lang="de-DE" dirty="0"/>
              <a:t>Buttons are listed in </a:t>
            </a:r>
            <a:r>
              <a:rPr lang="de-DE" dirty="0">
                <a:highlight>
                  <a:srgbClr val="FFFF00"/>
                </a:highlight>
              </a:rPr>
              <a:t>Yellow</a:t>
            </a:r>
            <a:r>
              <a:rPr lang="de-DE" dirty="0"/>
              <a:t> </a:t>
            </a:r>
            <a:endParaRPr lang="de-DE" dirty="0">
              <a:highlight>
                <a:srgbClr val="FFFF00"/>
              </a:highlight>
            </a:endParaRP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8069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9C36-F290-4517-7EE1-B64FBCE87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Mathematic Principles Behind DOSYFACE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3C2B6-CA62-AEA2-3518-5FF31E77E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/>
              <a:t>Stejskal-Tanner Equation is being used to determine the Diffusion Coefficient using either linear (ln) or exponential (curved)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Gradient Strength and Gradient Strength are the two variables you use to determine D – Diffusion Coefficient using incremented Length/ strength which give you different NMR-Signal intensity. </a:t>
            </a:r>
          </a:p>
          <a:p>
            <a:r>
              <a:rPr lang="de-DE" dirty="0"/>
              <a:t>This different intensity is due to molecular diffusion occuring and reducing the signal due to its „</a:t>
            </a:r>
            <a:r>
              <a:rPr lang="de-DE" b="1" dirty="0"/>
              <a:t>transversal relaxation</a:t>
            </a:r>
            <a:r>
              <a:rPr lang="de-DE" dirty="0"/>
              <a:t>“ -&gt; Signal attentuation through movement into undetectable NMR-Measurement Area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7ED5E4C4-2ADB-8AAB-45F9-FC8544C83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566" y="2622320"/>
            <a:ext cx="6936388" cy="104544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217066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43DB8C9-CCB1-CD02-1A35-BA8EDDBD1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22" y="3015800"/>
            <a:ext cx="7364879" cy="1110017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4" name="Straight Arrow Connector 8">
            <a:extLst>
              <a:ext uri="{FF2B5EF4-FFF2-40B4-BE49-F238E27FC236}">
                <a16:creationId xmlns:a16="http://schemas.microsoft.com/office/drawing/2014/main" id="{8B128649-3671-3516-94B4-964BDF44719A}"/>
              </a:ext>
            </a:extLst>
          </p:cNvPr>
          <p:cNvCxnSpPr>
            <a:stCxn id="5" idx="2"/>
          </p:cNvCxnSpPr>
          <p:nvPr/>
        </p:nvCxnSpPr>
        <p:spPr>
          <a:xfrm>
            <a:off x="3147629" y="1147422"/>
            <a:ext cx="731237" cy="2271995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5" name="TextBox 10">
            <a:extLst>
              <a:ext uri="{FF2B5EF4-FFF2-40B4-BE49-F238E27FC236}">
                <a16:creationId xmlns:a16="http://schemas.microsoft.com/office/drawing/2014/main" id="{B1F1F7BD-CBA4-1E42-4F9F-A1EAB9220179}"/>
              </a:ext>
            </a:extLst>
          </p:cNvPr>
          <p:cNvSpPr txBox="1"/>
          <p:nvPr/>
        </p:nvSpPr>
        <p:spPr>
          <a:xfrm>
            <a:off x="1915192" y="778090"/>
            <a:ext cx="2464874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0" cap="none" spc="0" baseline="0" dirty="0">
                <a:solidFill>
                  <a:srgbClr val="747474"/>
                </a:solidFill>
                <a:uFillTx/>
                <a:latin typeface="Aptos"/>
              </a:rPr>
              <a:t>Gyroscopic Ratio</a:t>
            </a:r>
            <a:endParaRPr lang="de-DE" sz="1800" b="0" i="0" u="none" strike="noStrike" kern="1200" cap="none" spc="0" baseline="0" dirty="0">
              <a:solidFill>
                <a:srgbClr val="747474"/>
              </a:solidFill>
              <a:uFillTx/>
              <a:latin typeface="Aptos"/>
            </a:endParaRPr>
          </a:p>
        </p:txBody>
      </p:sp>
      <p:cxnSp>
        <p:nvCxnSpPr>
          <p:cNvPr id="6" name="Straight Arrow Connector 11">
            <a:extLst>
              <a:ext uri="{FF2B5EF4-FFF2-40B4-BE49-F238E27FC236}">
                <a16:creationId xmlns:a16="http://schemas.microsoft.com/office/drawing/2014/main" id="{9CA1AC70-8285-3031-97D3-CC14DF74B6D5}"/>
              </a:ext>
            </a:extLst>
          </p:cNvPr>
          <p:cNvCxnSpPr/>
          <p:nvPr/>
        </p:nvCxnSpPr>
        <p:spPr>
          <a:xfrm flipV="1">
            <a:off x="4266197" y="3876178"/>
            <a:ext cx="0" cy="604217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7" name="TextBox 15">
            <a:extLst>
              <a:ext uri="{FF2B5EF4-FFF2-40B4-BE49-F238E27FC236}">
                <a16:creationId xmlns:a16="http://schemas.microsoft.com/office/drawing/2014/main" id="{0DA4E558-BBB8-8E50-B7E5-B3CE0C6DBE26}"/>
              </a:ext>
            </a:extLst>
          </p:cNvPr>
          <p:cNvSpPr txBox="1"/>
          <p:nvPr/>
        </p:nvSpPr>
        <p:spPr>
          <a:xfrm>
            <a:off x="2717953" y="4542583"/>
            <a:ext cx="3431523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000" b="1" i="0" u="none" strike="noStrike" kern="1200" cap="none" spc="0" baseline="0" dirty="0">
                <a:solidFill>
                  <a:srgbClr val="FF0000"/>
                </a:solidFill>
                <a:uFillTx/>
                <a:latin typeface="Aptos"/>
              </a:rPr>
              <a:t>Gradient Strength</a:t>
            </a:r>
          </a:p>
        </p:txBody>
      </p:sp>
      <p:cxnSp>
        <p:nvCxnSpPr>
          <p:cNvPr id="8" name="Straight Arrow Connector 16">
            <a:extLst>
              <a:ext uri="{FF2B5EF4-FFF2-40B4-BE49-F238E27FC236}">
                <a16:creationId xmlns:a16="http://schemas.microsoft.com/office/drawing/2014/main" id="{E447273F-6570-DB5A-2426-D45B990B6386}"/>
              </a:ext>
            </a:extLst>
          </p:cNvPr>
          <p:cNvCxnSpPr>
            <a:stCxn id="9" idx="2"/>
          </p:cNvCxnSpPr>
          <p:nvPr/>
        </p:nvCxnSpPr>
        <p:spPr>
          <a:xfrm flipH="1">
            <a:off x="4850773" y="1938661"/>
            <a:ext cx="881262" cy="1299960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9" name="TextBox 19">
            <a:extLst>
              <a:ext uri="{FF2B5EF4-FFF2-40B4-BE49-F238E27FC236}">
                <a16:creationId xmlns:a16="http://schemas.microsoft.com/office/drawing/2014/main" id="{0D665036-F06C-6DBB-78E1-76C52E02AC57}"/>
              </a:ext>
            </a:extLst>
          </p:cNvPr>
          <p:cNvSpPr txBox="1"/>
          <p:nvPr/>
        </p:nvSpPr>
        <p:spPr>
          <a:xfrm>
            <a:off x="4266197" y="1538551"/>
            <a:ext cx="2931676" cy="4001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000" b="1" i="0" u="none" strike="noStrike" kern="1200" cap="none" spc="0" baseline="0" dirty="0">
                <a:solidFill>
                  <a:srgbClr val="FF0000"/>
                </a:solidFill>
                <a:uFillTx/>
                <a:latin typeface="Aptos"/>
              </a:rPr>
              <a:t>Gradient Length</a:t>
            </a:r>
          </a:p>
        </p:txBody>
      </p:sp>
      <p:cxnSp>
        <p:nvCxnSpPr>
          <p:cNvPr id="10" name="Straight Arrow Connector 21">
            <a:extLst>
              <a:ext uri="{FF2B5EF4-FFF2-40B4-BE49-F238E27FC236}">
                <a16:creationId xmlns:a16="http://schemas.microsoft.com/office/drawing/2014/main" id="{C65ACC06-7E6E-2C79-ED33-B32E47D917C4}"/>
              </a:ext>
            </a:extLst>
          </p:cNvPr>
          <p:cNvCxnSpPr>
            <a:cxnSpLocks/>
          </p:cNvCxnSpPr>
          <p:nvPr/>
        </p:nvCxnSpPr>
        <p:spPr>
          <a:xfrm flipH="1" flipV="1">
            <a:off x="6081080" y="4081506"/>
            <a:ext cx="896569" cy="979789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1" name="Straight Arrow Connector 24">
            <a:extLst>
              <a:ext uri="{FF2B5EF4-FFF2-40B4-BE49-F238E27FC236}">
                <a16:creationId xmlns:a16="http://schemas.microsoft.com/office/drawing/2014/main" id="{4A5AACBD-BB5E-3E53-7DB4-9AE5466D4116}"/>
              </a:ext>
            </a:extLst>
          </p:cNvPr>
          <p:cNvCxnSpPr/>
          <p:nvPr/>
        </p:nvCxnSpPr>
        <p:spPr>
          <a:xfrm flipH="1">
            <a:off x="7197873" y="1228569"/>
            <a:ext cx="254980" cy="2010052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  <a:tailEnd type="arrow"/>
          </a:ln>
        </p:spPr>
      </p:cxnSp>
      <p:cxnSp>
        <p:nvCxnSpPr>
          <p:cNvPr id="14" name="Straight Arrow Connector 11">
            <a:extLst>
              <a:ext uri="{FF2B5EF4-FFF2-40B4-BE49-F238E27FC236}">
                <a16:creationId xmlns:a16="http://schemas.microsoft.com/office/drawing/2014/main" id="{1C8902E1-C341-A46B-5F49-D6E1B908A42D}"/>
              </a:ext>
            </a:extLst>
          </p:cNvPr>
          <p:cNvCxnSpPr/>
          <p:nvPr/>
        </p:nvCxnSpPr>
        <p:spPr>
          <a:xfrm flipV="1">
            <a:off x="1732157" y="3785414"/>
            <a:ext cx="183035" cy="501421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15" name="TextBox 15">
            <a:extLst>
              <a:ext uri="{FF2B5EF4-FFF2-40B4-BE49-F238E27FC236}">
                <a16:creationId xmlns:a16="http://schemas.microsoft.com/office/drawing/2014/main" id="{21BDE31B-36C6-37F7-8DFB-6A8BCA9E6F95}"/>
              </a:ext>
            </a:extLst>
          </p:cNvPr>
          <p:cNvSpPr txBox="1"/>
          <p:nvPr/>
        </p:nvSpPr>
        <p:spPr>
          <a:xfrm>
            <a:off x="850007" y="4291370"/>
            <a:ext cx="1513386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1" i="0" u="none" strike="noStrike" kern="0" cap="none" spc="0" baseline="0" dirty="0">
                <a:solidFill>
                  <a:srgbClr val="AEAEAE"/>
                </a:solidFill>
                <a:uFillTx/>
                <a:latin typeface="Aptos"/>
              </a:rPr>
              <a:t>Initial Signal</a:t>
            </a:r>
            <a:endParaRPr lang="de-DE" sz="1800" b="1" i="0" u="none" strike="noStrike" kern="1200" cap="none" spc="0" baseline="0" dirty="0">
              <a:solidFill>
                <a:srgbClr val="AEAEAE"/>
              </a:solidFill>
              <a:uFillTx/>
              <a:latin typeface="Apto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9BC687-7057-F835-653A-CC307D66270C}"/>
              </a:ext>
            </a:extLst>
          </p:cNvPr>
          <p:cNvSpPr txBox="1"/>
          <p:nvPr/>
        </p:nvSpPr>
        <p:spPr>
          <a:xfrm>
            <a:off x="465822" y="1433998"/>
            <a:ext cx="2342098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1" i="0" u="none" strike="noStrike" kern="0" cap="none" spc="0" baseline="0" dirty="0">
                <a:solidFill>
                  <a:srgbClr val="AEAEAE"/>
                </a:solidFill>
                <a:uFillTx/>
                <a:latin typeface="Aptos"/>
              </a:rPr>
              <a:t>Measured Intensity</a:t>
            </a:r>
            <a:endParaRPr lang="de-DE" sz="1800" b="1" i="0" u="none" strike="noStrike" kern="1200" cap="none" spc="0" baseline="0" dirty="0">
              <a:solidFill>
                <a:srgbClr val="AEAEAE"/>
              </a:solidFill>
              <a:uFillTx/>
              <a:latin typeface="Aptos"/>
            </a:endParaRPr>
          </a:p>
        </p:txBody>
      </p:sp>
      <p:cxnSp>
        <p:nvCxnSpPr>
          <p:cNvPr id="17" name="Straight Arrow Connector 11">
            <a:extLst>
              <a:ext uri="{FF2B5EF4-FFF2-40B4-BE49-F238E27FC236}">
                <a16:creationId xmlns:a16="http://schemas.microsoft.com/office/drawing/2014/main" id="{B92F74DC-A96F-3684-E61B-1C52FAC874C9}"/>
              </a:ext>
            </a:extLst>
          </p:cNvPr>
          <p:cNvCxnSpPr>
            <a:stCxn id="16" idx="2"/>
          </p:cNvCxnSpPr>
          <p:nvPr/>
        </p:nvCxnSpPr>
        <p:spPr>
          <a:xfrm flipH="1">
            <a:off x="815589" y="1803330"/>
            <a:ext cx="821282" cy="1478963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prstDash val="solid"/>
            <a:miter/>
            <a:tailEnd type="arrow"/>
          </a:ln>
        </p:spPr>
      </p:cxnSp>
      <p:sp>
        <p:nvSpPr>
          <p:cNvPr id="41" name="TextBox 60">
            <a:extLst>
              <a:ext uri="{FF2B5EF4-FFF2-40B4-BE49-F238E27FC236}">
                <a16:creationId xmlns:a16="http://schemas.microsoft.com/office/drawing/2014/main" id="{AB76448B-88F5-DB4B-4388-0784C26D914C}"/>
              </a:ext>
            </a:extLst>
          </p:cNvPr>
          <p:cNvSpPr txBox="1"/>
          <p:nvPr/>
        </p:nvSpPr>
        <p:spPr>
          <a:xfrm>
            <a:off x="272966" y="5763819"/>
            <a:ext cx="6096003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>
                <a:solidFill>
                  <a:srgbClr val="1B1B1B"/>
                </a:solidFill>
                <a:uFillTx/>
                <a:latin typeface="URW DIN Regular"/>
              </a:rPr>
              <a:t>Stejskal, E.O., and Tanner, J.E., </a:t>
            </a:r>
            <a:r>
              <a:rPr lang="de-DE" sz="1800" b="0" i="1" u="none" strike="noStrike" kern="1200" cap="none" spc="0" baseline="0">
                <a:solidFill>
                  <a:srgbClr val="1B1B1B"/>
                </a:solidFill>
                <a:uFillTx/>
                <a:latin typeface="URW DIN Regular"/>
              </a:rPr>
              <a:t>Chem. Phys</a:t>
            </a:r>
            <a:r>
              <a:rPr lang="de-DE" sz="1800" b="0" i="0" u="none" strike="noStrike" kern="1200" cap="none" spc="0" baseline="0">
                <a:solidFill>
                  <a:srgbClr val="1B1B1B"/>
                </a:solidFill>
                <a:uFillTx/>
                <a:latin typeface="URW DIN Regular"/>
              </a:rPr>
              <a:t>. </a:t>
            </a:r>
            <a:r>
              <a:rPr lang="de-DE" sz="1800" b="1" i="0" u="none" strike="noStrike" kern="1200" cap="none" spc="0" baseline="0">
                <a:solidFill>
                  <a:srgbClr val="1B1B1B"/>
                </a:solidFill>
                <a:uFillTx/>
                <a:latin typeface="URW DIN Regular"/>
              </a:rPr>
              <a:t>42</a:t>
            </a:r>
            <a:r>
              <a:rPr lang="de-DE" sz="1800" b="0" i="0" u="none" strike="noStrike" kern="1200" cap="none" spc="0" baseline="0">
                <a:solidFill>
                  <a:srgbClr val="1B1B1B"/>
                </a:solidFill>
                <a:uFillTx/>
                <a:latin typeface="URW DIN Regular"/>
              </a:rPr>
              <a:t>, 288 (1965).</a:t>
            </a:r>
          </a:p>
        </p:txBody>
      </p:sp>
      <p:sp>
        <p:nvSpPr>
          <p:cNvPr id="46" name="TextBox 28">
            <a:extLst>
              <a:ext uri="{FF2B5EF4-FFF2-40B4-BE49-F238E27FC236}">
                <a16:creationId xmlns:a16="http://schemas.microsoft.com/office/drawing/2014/main" id="{CA20ECD9-C1E1-DCB5-B7E2-F5FA994E0190}"/>
              </a:ext>
            </a:extLst>
          </p:cNvPr>
          <p:cNvSpPr txBox="1"/>
          <p:nvPr/>
        </p:nvSpPr>
        <p:spPr>
          <a:xfrm>
            <a:off x="5998033" y="5074306"/>
            <a:ext cx="2111093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1" i="0" u="none" strike="noStrike" kern="1200" cap="none" spc="0" baseline="0" dirty="0">
                <a:solidFill>
                  <a:srgbClr val="AEAEAE"/>
                </a:solidFill>
                <a:uFillTx/>
                <a:latin typeface="Aptos"/>
              </a:rPr>
              <a:t>Diffusion Time </a:t>
            </a:r>
          </a:p>
        </p:txBody>
      </p:sp>
      <p:sp>
        <p:nvSpPr>
          <p:cNvPr id="47" name="TextBox 28">
            <a:extLst>
              <a:ext uri="{FF2B5EF4-FFF2-40B4-BE49-F238E27FC236}">
                <a16:creationId xmlns:a16="http://schemas.microsoft.com/office/drawing/2014/main" id="{62DA3FD8-19B8-C95F-D537-7AD0BEA40FDA}"/>
              </a:ext>
            </a:extLst>
          </p:cNvPr>
          <p:cNvSpPr txBox="1"/>
          <p:nvPr/>
        </p:nvSpPr>
        <p:spPr>
          <a:xfrm>
            <a:off x="6368969" y="830037"/>
            <a:ext cx="2464874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Diffusion-Coefficient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FDED3E9-8DE6-32F9-AB8F-D9884DE02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9727" y="1803330"/>
            <a:ext cx="4115851" cy="4351338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Gradient Strength </a:t>
            </a:r>
            <a:r>
              <a:rPr lang="de-DE" dirty="0"/>
              <a:t>and </a:t>
            </a:r>
            <a:r>
              <a:rPr lang="de-DE" dirty="0">
                <a:solidFill>
                  <a:srgbClr val="FF0000"/>
                </a:solidFill>
              </a:rPr>
              <a:t>Gradient Length </a:t>
            </a:r>
            <a:r>
              <a:rPr lang="de-DE" dirty="0"/>
              <a:t>are the two variables you use to determine D – Diffusion Coefficient using incremented Length/ strength which give you different NMR-Signal intensity.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30B8F60-7982-F808-C398-056BCCD81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604"/>
            <a:ext cx="12192000" cy="58467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0E68DB-1E55-1D64-55E8-EB0E92F98B04}"/>
              </a:ext>
            </a:extLst>
          </p:cNvPr>
          <p:cNvSpPr txBox="1"/>
          <p:nvPr/>
        </p:nvSpPr>
        <p:spPr>
          <a:xfrm>
            <a:off x="127820" y="1347020"/>
            <a:ext cx="266867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NMR-Terms: </a:t>
            </a:r>
          </a:p>
          <a:p>
            <a:endParaRPr lang="de-DE" dirty="0"/>
          </a:p>
          <a:p>
            <a:r>
              <a:rPr lang="de-DE" dirty="0"/>
              <a:t>Gpz6 = Gradient Strength</a:t>
            </a:r>
          </a:p>
          <a:p>
            <a:r>
              <a:rPr lang="de-DE" dirty="0"/>
              <a:t>P30 = Gradient Length</a:t>
            </a:r>
          </a:p>
          <a:p>
            <a:r>
              <a:rPr lang="de-DE" dirty="0"/>
              <a:t>D20 = Diffusion time</a:t>
            </a:r>
          </a:p>
          <a:p>
            <a:r>
              <a:rPr lang="de-DE" dirty="0"/>
              <a:t>1H = Proton NMR</a:t>
            </a:r>
          </a:p>
          <a:p>
            <a:r>
              <a:rPr lang="de-DE" dirty="0"/>
              <a:t>19F = Fluoride NMR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77130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CA4F42-5A64-B74E-6D4F-237B1B5BF7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51" r="52667" b="92154"/>
          <a:stretch>
            <a:fillRect/>
          </a:stretch>
        </p:blipFill>
        <p:spPr>
          <a:xfrm>
            <a:off x="598331" y="3726655"/>
            <a:ext cx="11073996" cy="62388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9FF4D1-1144-D9CA-2584-8A589360E126}"/>
              </a:ext>
            </a:extLst>
          </p:cNvPr>
          <p:cNvCxnSpPr/>
          <p:nvPr/>
        </p:nvCxnSpPr>
        <p:spPr>
          <a:xfrm>
            <a:off x="9559249" y="1925156"/>
            <a:ext cx="0" cy="1666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CA1E76A-2E55-64EF-2F0C-DE4CE807558A}"/>
              </a:ext>
            </a:extLst>
          </p:cNvPr>
          <p:cNvSpPr txBox="1"/>
          <p:nvPr/>
        </p:nvSpPr>
        <p:spPr>
          <a:xfrm>
            <a:off x="8270371" y="1154478"/>
            <a:ext cx="3734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Imports data &amp; information into Data and Information Window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8C15FE-8A76-920C-4A1B-F1CC3279E368}"/>
              </a:ext>
            </a:extLst>
          </p:cNvPr>
          <p:cNvSpPr txBox="1"/>
          <p:nvPr/>
        </p:nvSpPr>
        <p:spPr>
          <a:xfrm>
            <a:off x="9048779" y="5305643"/>
            <a:ext cx="25696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Add File to perform Fit based on multiple datasets</a:t>
            </a:r>
          </a:p>
          <a:p>
            <a:r>
              <a:rPr lang="de-DE" dirty="0"/>
              <a:t>e.g. Global Fit</a:t>
            </a:r>
          </a:p>
          <a:p>
            <a:r>
              <a:rPr lang="de-DE" dirty="0">
                <a:highlight>
                  <a:srgbClr val="FF0000"/>
                </a:highlight>
              </a:rPr>
              <a:t>Not Working 100% 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682C68-BC5B-CBB3-BFBD-4812AFAACE6A}"/>
              </a:ext>
            </a:extLst>
          </p:cNvPr>
          <p:cNvCxnSpPr>
            <a:cxnSpLocks/>
          </p:cNvCxnSpPr>
          <p:nvPr/>
        </p:nvCxnSpPr>
        <p:spPr>
          <a:xfrm flipV="1">
            <a:off x="10658168" y="4435258"/>
            <a:ext cx="290935" cy="785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098219-6CE4-164A-713A-FCD42F1B10C2}"/>
              </a:ext>
            </a:extLst>
          </p:cNvPr>
          <p:cNvCxnSpPr/>
          <p:nvPr/>
        </p:nvCxnSpPr>
        <p:spPr>
          <a:xfrm>
            <a:off x="7824674" y="2372359"/>
            <a:ext cx="0" cy="1666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63F960C-153A-6142-EC8B-D3A441A0C0F1}"/>
              </a:ext>
            </a:extLst>
          </p:cNvPr>
          <p:cNvSpPr txBox="1"/>
          <p:nvPr/>
        </p:nvSpPr>
        <p:spPr>
          <a:xfrm>
            <a:off x="598331" y="4460239"/>
            <a:ext cx="266867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Gpz6 = Gradient Strength</a:t>
            </a:r>
          </a:p>
          <a:p>
            <a:r>
              <a:rPr lang="de-DE" dirty="0"/>
              <a:t>P30 = Gradient Length</a:t>
            </a:r>
          </a:p>
          <a:p>
            <a:r>
              <a:rPr lang="de-DE" dirty="0"/>
              <a:t>D20 = Diffusion time</a:t>
            </a:r>
          </a:p>
          <a:p>
            <a:r>
              <a:rPr lang="de-DE" dirty="0"/>
              <a:t>1H = Proton NMR</a:t>
            </a:r>
          </a:p>
          <a:p>
            <a:r>
              <a:rPr lang="de-DE" dirty="0"/>
              <a:t>19F = Fluoride NMR</a:t>
            </a:r>
          </a:p>
          <a:p>
            <a:endParaRPr lang="de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6D08E1-4F19-49FD-E418-BE7B43010C82}"/>
              </a:ext>
            </a:extLst>
          </p:cNvPr>
          <p:cNvSpPr txBox="1"/>
          <p:nvPr/>
        </p:nvSpPr>
        <p:spPr>
          <a:xfrm>
            <a:off x="7321854" y="1862635"/>
            <a:ext cx="9918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Filepath</a:t>
            </a:r>
          </a:p>
          <a:p>
            <a:endParaRPr lang="de-DE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3EF548-634A-4E7A-D2B9-D21C8E90D1DF}"/>
              </a:ext>
            </a:extLst>
          </p:cNvPr>
          <p:cNvCxnSpPr>
            <a:cxnSpLocks/>
          </p:cNvCxnSpPr>
          <p:nvPr/>
        </p:nvCxnSpPr>
        <p:spPr>
          <a:xfrm flipV="1">
            <a:off x="7197213" y="4160015"/>
            <a:ext cx="1241159" cy="1320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D66650F-6634-82C0-9F72-16AB458A9228}"/>
              </a:ext>
            </a:extLst>
          </p:cNvPr>
          <p:cNvSpPr txBox="1"/>
          <p:nvPr/>
        </p:nvSpPr>
        <p:spPr>
          <a:xfrm>
            <a:off x="5279923" y="5568234"/>
            <a:ext cx="2686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Browse within file system</a:t>
            </a:r>
          </a:p>
          <a:p>
            <a:endParaRPr lang="de-DE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527486F-3935-EBBE-B25D-FCFF8F24F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13" y="245462"/>
            <a:ext cx="5807034" cy="348119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67067E7-5A01-A567-5769-D6D4CAA36DAA}"/>
              </a:ext>
            </a:extLst>
          </p:cNvPr>
          <p:cNvSpPr txBox="1"/>
          <p:nvPr/>
        </p:nvSpPr>
        <p:spPr>
          <a:xfrm>
            <a:off x="3610176" y="2111945"/>
            <a:ext cx="18811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Example Text File</a:t>
            </a:r>
          </a:p>
          <a:p>
            <a:endParaRPr lang="de-D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197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1AFD46-2263-3C27-A038-8C3D772A1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486" y="1115740"/>
            <a:ext cx="10166475" cy="56083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123AF20-0FDA-0E84-888A-38BEE1518D89}"/>
              </a:ext>
            </a:extLst>
          </p:cNvPr>
          <p:cNvSpPr txBox="1"/>
          <p:nvPr/>
        </p:nvSpPr>
        <p:spPr>
          <a:xfrm>
            <a:off x="22039" y="2134443"/>
            <a:ext cx="20034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Lists Integral (which was processed beforehand in TopSpin-Bruker)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Shows Integral Info e.g. Regions on ppm-scale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Shows gpz6, p30 and Isotope combination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C2AD0C-36A3-029D-6403-13674737DCA0}"/>
              </a:ext>
            </a:extLst>
          </p:cNvPr>
          <p:cNvSpPr txBox="1"/>
          <p:nvPr/>
        </p:nvSpPr>
        <p:spPr>
          <a:xfrm>
            <a:off x="93159" y="833120"/>
            <a:ext cx="20034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FFFF00"/>
                </a:highlight>
              </a:rPr>
              <a:t>„All in one click“</a:t>
            </a:r>
          </a:p>
          <a:p>
            <a:endParaRPr lang="de-DE" dirty="0">
              <a:highlight>
                <a:srgbClr val="FFFF00"/>
              </a:highlight>
            </a:endParaRPr>
          </a:p>
          <a:p>
            <a:pPr algn="ctr"/>
            <a:r>
              <a:rPr lang="de-DE" dirty="0">
                <a:highlight>
                  <a:srgbClr val="FFFF00"/>
                </a:highlight>
              </a:rPr>
              <a:t>Import Info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3BD32D-0CA6-B3CE-1371-23933E24C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476" y="2782529"/>
            <a:ext cx="4609162" cy="27630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2F06458-330F-823E-CBC9-D7CE5CE4F206}"/>
              </a:ext>
            </a:extLst>
          </p:cNvPr>
          <p:cNvSpPr txBox="1"/>
          <p:nvPr/>
        </p:nvSpPr>
        <p:spPr>
          <a:xfrm>
            <a:off x="6882333" y="5545623"/>
            <a:ext cx="200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From This to That</a:t>
            </a:r>
          </a:p>
        </p:txBody>
      </p:sp>
    </p:spTree>
    <p:extLst>
      <p:ext uri="{BB962C8B-B14F-4D97-AF65-F5344CB8AC3E}">
        <p14:creationId xmlns:p14="http://schemas.microsoft.com/office/powerpoint/2010/main" val="3045116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2001DE-7CA4-83AD-AFD3-E249D9431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82" y="0"/>
            <a:ext cx="694716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9EA37-21CB-C512-891D-EFE376BAF249}"/>
              </a:ext>
            </a:extLst>
          </p:cNvPr>
          <p:cNvSpPr txBox="1"/>
          <p:nvPr/>
        </p:nvSpPr>
        <p:spPr>
          <a:xfrm>
            <a:off x="7612542" y="236817"/>
            <a:ext cx="40414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Sometimes multiple Integral regions can be listed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With </a:t>
            </a:r>
            <a:r>
              <a:rPr lang="de-DE" dirty="0">
                <a:highlight>
                  <a:srgbClr val="FFFF00"/>
                </a:highlight>
              </a:rPr>
              <a:t>Open Choose &amp; Normalize Window - Button</a:t>
            </a:r>
            <a:r>
              <a:rPr lang="de-DE" dirty="0"/>
              <a:t> one can choose Region and normalize by dividing by the highest number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highlight>
                  <a:srgbClr val="FFFF00"/>
                </a:highlight>
              </a:rPr>
              <a:t>Save</a:t>
            </a:r>
            <a:r>
              <a:rPr lang="de-DE" dirty="0"/>
              <a:t> automatically saves combination as the file name in Fit-Settings Window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7511D6-6DCC-F8C2-F1C6-4AB2E9A40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268" y="4762190"/>
            <a:ext cx="6835732" cy="146316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D3AF77-F9B7-F37B-0EF6-9E5105BAA97D}"/>
              </a:ext>
            </a:extLst>
          </p:cNvPr>
          <p:cNvSpPr/>
          <p:nvPr/>
        </p:nvSpPr>
        <p:spPr>
          <a:xfrm>
            <a:off x="2418735" y="1806477"/>
            <a:ext cx="727588" cy="162252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5F98DB-799F-1B66-51DC-A35E727B0C82}"/>
              </a:ext>
            </a:extLst>
          </p:cNvPr>
          <p:cNvSpPr/>
          <p:nvPr/>
        </p:nvSpPr>
        <p:spPr>
          <a:xfrm>
            <a:off x="537981" y="3952568"/>
            <a:ext cx="1398973" cy="4031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C9126D-80D8-B1C2-F9AD-982B9F385B10}"/>
              </a:ext>
            </a:extLst>
          </p:cNvPr>
          <p:cNvSpPr/>
          <p:nvPr/>
        </p:nvSpPr>
        <p:spPr>
          <a:xfrm>
            <a:off x="3273722" y="3298723"/>
            <a:ext cx="1398973" cy="403122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6F558B-E256-EDCB-7072-2DC4B54255B7}"/>
              </a:ext>
            </a:extLst>
          </p:cNvPr>
          <p:cNvSpPr/>
          <p:nvPr/>
        </p:nvSpPr>
        <p:spPr>
          <a:xfrm>
            <a:off x="6785656" y="5506064"/>
            <a:ext cx="1453776" cy="285135"/>
          </a:xfrm>
          <a:prstGeom prst="rect">
            <a:avLst/>
          </a:prstGeom>
          <a:noFill/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94AA781-5825-E0F0-88F8-0D5011B73E31}"/>
              </a:ext>
            </a:extLst>
          </p:cNvPr>
          <p:cNvCxnSpPr>
            <a:cxnSpLocks/>
          </p:cNvCxnSpPr>
          <p:nvPr/>
        </p:nvCxnSpPr>
        <p:spPr>
          <a:xfrm>
            <a:off x="4672695" y="3500284"/>
            <a:ext cx="2735740" cy="19934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AE5769-32D8-7961-C515-60482848CEEE}"/>
              </a:ext>
            </a:extLst>
          </p:cNvPr>
          <p:cNvCxnSpPr>
            <a:cxnSpLocks/>
          </p:cNvCxnSpPr>
          <p:nvPr/>
        </p:nvCxnSpPr>
        <p:spPr>
          <a:xfrm flipH="1">
            <a:off x="2782529" y="3429000"/>
            <a:ext cx="180510" cy="8541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621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E62481-3767-3F60-0072-C9A81A93F7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83" t="56516" r="4750" b="3000"/>
          <a:stretch>
            <a:fillRect/>
          </a:stretch>
        </p:blipFill>
        <p:spPr>
          <a:xfrm>
            <a:off x="0" y="1811493"/>
            <a:ext cx="12192000" cy="49141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A5C5D4-D440-716B-FA3C-A65232CA323B}"/>
              </a:ext>
            </a:extLst>
          </p:cNvPr>
          <p:cNvSpPr txBox="1"/>
          <p:nvPr/>
        </p:nvSpPr>
        <p:spPr>
          <a:xfrm>
            <a:off x="216062" y="513397"/>
            <a:ext cx="4041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/>
              <a:t>Fit Settings</a:t>
            </a:r>
          </a:p>
        </p:txBody>
      </p:sp>
    </p:spTree>
    <p:extLst>
      <p:ext uri="{BB962C8B-B14F-4D97-AF65-F5344CB8AC3E}">
        <p14:creationId xmlns:p14="http://schemas.microsoft.com/office/powerpoint/2010/main" val="299418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DF2F5-51D9-5197-CE04-C038BC591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10" y="236870"/>
            <a:ext cx="10515600" cy="1325563"/>
          </a:xfrm>
        </p:spPr>
        <p:txBody>
          <a:bodyPr/>
          <a:lstStyle/>
          <a:p>
            <a:r>
              <a:rPr lang="de-DE" dirty="0"/>
              <a:t>D20 – Diffusion time [seconds]</a:t>
            </a:r>
            <a:br>
              <a:rPr lang="de-DE" dirty="0"/>
            </a:br>
            <a:r>
              <a:rPr lang="de-DE" dirty="0"/>
              <a:t>1H – 100 ms = 0.1 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DAF06E-9EDF-8EEF-8A74-FE2B18AC16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926" t="65029" r="31885" b="30158"/>
          <a:stretch>
            <a:fillRect/>
          </a:stretch>
        </p:blipFill>
        <p:spPr>
          <a:xfrm>
            <a:off x="8423623" y="314434"/>
            <a:ext cx="3178858" cy="89600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441B898-FAE4-C0A0-D54E-B8B17B3DF69A}"/>
              </a:ext>
            </a:extLst>
          </p:cNvPr>
          <p:cNvSpPr txBox="1">
            <a:spLocks/>
          </p:cNvSpPr>
          <p:nvPr/>
        </p:nvSpPr>
        <p:spPr>
          <a:xfrm>
            <a:off x="279400" y="2319266"/>
            <a:ext cx="6629400" cy="3286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Depending on your combo:</a:t>
            </a:r>
          </a:p>
          <a:p>
            <a:r>
              <a:rPr lang="de-DE" dirty="0"/>
              <a:t>Gpz6-1H/19F or p30-1H/19F</a:t>
            </a:r>
          </a:p>
          <a:p>
            <a:endParaRPr lang="de-DE" dirty="0"/>
          </a:p>
          <a:p>
            <a:r>
              <a:rPr lang="de-DE" dirty="0"/>
              <a:t>Fixed Variables have to be assigned for the fit:</a:t>
            </a:r>
          </a:p>
          <a:p>
            <a:endParaRPr lang="de-DE" dirty="0"/>
          </a:p>
          <a:p>
            <a:r>
              <a:rPr lang="de-DE" dirty="0"/>
              <a:t>You vary </a:t>
            </a:r>
            <a:r>
              <a:rPr lang="de-DE" dirty="0">
                <a:solidFill>
                  <a:srgbClr val="FF0000"/>
                </a:solidFill>
              </a:rPr>
              <a:t>gpz6 (Gradient Strength) </a:t>
            </a:r>
            <a:r>
              <a:rPr lang="de-DE" dirty="0"/>
              <a:t>you have a fixed </a:t>
            </a:r>
            <a:r>
              <a:rPr lang="de-DE" dirty="0">
                <a:solidFill>
                  <a:srgbClr val="FF0000"/>
                </a:solidFill>
              </a:rPr>
              <a:t>p30 (Gradient Length)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A6B701-FC53-8EC9-E835-52BD96EAD3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83" t="71809" r="36179" b="3859"/>
          <a:stretch>
            <a:fillRect/>
          </a:stretch>
        </p:blipFill>
        <p:spPr>
          <a:xfrm>
            <a:off x="7498080" y="2652165"/>
            <a:ext cx="4236720" cy="295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03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30639-B0E2-C6D6-9642-665A5130B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68" y="218864"/>
            <a:ext cx="10515600" cy="1325563"/>
          </a:xfrm>
        </p:spPr>
        <p:txBody>
          <a:bodyPr/>
          <a:lstStyle/>
          <a:p>
            <a:r>
              <a:rPr lang="de-DE" dirty="0"/>
              <a:t>Fixed Variables Window / Converter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FF9CAD-9F29-7A1D-6AEF-FCEF100F05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83" t="71809" r="36179" b="3859"/>
          <a:stretch>
            <a:fillRect/>
          </a:stretch>
        </p:blipFill>
        <p:spPr>
          <a:xfrm>
            <a:off x="7209567" y="2265680"/>
            <a:ext cx="4718273" cy="328905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F1A2F31-A2B9-1AFF-C384-415A00420CE8}"/>
              </a:ext>
            </a:extLst>
          </p:cNvPr>
          <p:cNvSpPr txBox="1">
            <a:spLocks/>
          </p:cNvSpPr>
          <p:nvPr/>
        </p:nvSpPr>
        <p:spPr>
          <a:xfrm>
            <a:off x="340360" y="142731"/>
            <a:ext cx="6629400" cy="3286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FF0000"/>
                </a:solidFill>
              </a:rPr>
              <a:t>Not Working as intended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932C8DE-083C-1C77-A9E4-5A6875CD4CC0}"/>
              </a:ext>
            </a:extLst>
          </p:cNvPr>
          <p:cNvSpPr txBox="1">
            <a:spLocks/>
          </p:cNvSpPr>
          <p:nvPr/>
        </p:nvSpPr>
        <p:spPr>
          <a:xfrm>
            <a:off x="8636000" y="613107"/>
            <a:ext cx="3850640" cy="1652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800" dirty="0">
                <a:solidFill>
                  <a:srgbClr val="FF0000"/>
                </a:solidFill>
              </a:rPr>
              <a:t>Only insert values here directly!!</a:t>
            </a:r>
            <a:br>
              <a:rPr lang="de-DE" sz="1800" dirty="0">
                <a:solidFill>
                  <a:srgbClr val="FF0000"/>
                </a:solidFill>
              </a:rPr>
            </a:br>
            <a:br>
              <a:rPr lang="de-DE" sz="1800" dirty="0">
                <a:solidFill>
                  <a:srgbClr val="FF0000"/>
                </a:solidFill>
              </a:rPr>
            </a:br>
            <a:r>
              <a:rPr lang="de-DE" sz="1800" dirty="0">
                <a:solidFill>
                  <a:srgbClr val="FF0000"/>
                </a:solidFill>
              </a:rPr>
              <a:t>Do not use convert button</a:t>
            </a:r>
          </a:p>
          <a:p>
            <a:endParaRPr lang="de-DE" sz="1800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542EF6-0EA0-8E6E-700F-EE2A093F43D0}"/>
              </a:ext>
            </a:extLst>
          </p:cNvPr>
          <p:cNvCxnSpPr>
            <a:cxnSpLocks/>
          </p:cNvCxnSpPr>
          <p:nvPr/>
        </p:nvCxnSpPr>
        <p:spPr>
          <a:xfrm>
            <a:off x="11094720" y="1690688"/>
            <a:ext cx="78570" cy="12962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788E5B95-5CF8-0C88-B117-847816F0B714}"/>
              </a:ext>
            </a:extLst>
          </p:cNvPr>
          <p:cNvSpPr txBox="1">
            <a:spLocks/>
          </p:cNvSpPr>
          <p:nvPr/>
        </p:nvSpPr>
        <p:spPr>
          <a:xfrm>
            <a:off x="340360" y="2338810"/>
            <a:ext cx="6030943" cy="3286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Example Values: </a:t>
            </a:r>
          </a:p>
          <a:p>
            <a:endParaRPr lang="de-DE" dirty="0"/>
          </a:p>
          <a:p>
            <a:r>
              <a:rPr lang="de-DE" dirty="0"/>
              <a:t>Gpz6-1H Combo: </a:t>
            </a:r>
          </a:p>
          <a:p>
            <a:r>
              <a:rPr lang="de-DE" dirty="0"/>
              <a:t>Insert 0.001 in  second p30 1H [uS | S]</a:t>
            </a:r>
          </a:p>
          <a:p>
            <a:endParaRPr lang="de-DE" dirty="0"/>
          </a:p>
          <a:p>
            <a:r>
              <a:rPr lang="de-DE" dirty="0"/>
              <a:t>It is necessary to press </a:t>
            </a:r>
            <a:r>
              <a:rPr lang="de-DE" dirty="0">
                <a:highlight>
                  <a:srgbClr val="FFFF00"/>
                </a:highlight>
              </a:rPr>
              <a:t>Convert </a:t>
            </a:r>
            <a:r>
              <a:rPr lang="de-DE" dirty="0"/>
              <a:t>once to allow the </a:t>
            </a:r>
            <a:r>
              <a:rPr lang="de-DE" dirty="0">
                <a:highlight>
                  <a:srgbClr val="FFFF00"/>
                </a:highlight>
              </a:rPr>
              <a:t>Generate Fit </a:t>
            </a:r>
            <a:r>
              <a:rPr lang="de-DE" dirty="0"/>
              <a:t>button to function (i dont know why)</a:t>
            </a:r>
          </a:p>
          <a:p>
            <a:endParaRPr lang="de-DE" dirty="0"/>
          </a:p>
          <a:p>
            <a:r>
              <a:rPr lang="de-DE" dirty="0"/>
              <a:t>And then enter values from above</a:t>
            </a:r>
          </a:p>
        </p:txBody>
      </p:sp>
    </p:spTree>
    <p:extLst>
      <p:ext uri="{BB962C8B-B14F-4D97-AF65-F5344CB8AC3E}">
        <p14:creationId xmlns:p14="http://schemas.microsoft.com/office/powerpoint/2010/main" val="919150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72B5A-CEEC-C879-1531-B8F6B6A8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Increment Settings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30003E-BD0B-A39D-B31A-E4C4FE8177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621" t="73231" r="4750" b="3000"/>
          <a:stretch>
            <a:fillRect/>
          </a:stretch>
        </p:blipFill>
        <p:spPr>
          <a:xfrm>
            <a:off x="358617" y="1940559"/>
            <a:ext cx="11474765" cy="413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584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EB156-F31C-08DA-DB17-077B99006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Gpz6 – X – Combo means: </a:t>
            </a:r>
            <a:br>
              <a:rPr lang="de-DE" dirty="0"/>
            </a:br>
            <a:r>
              <a:rPr lang="de-DE" dirty="0"/>
              <a:t>Increments of gpz6-(Gradient strength accross all datapoints)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E64EE-40D1-1E83-0219-59C9C3D7C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Here you can either calculate increments using percentages (right) </a:t>
            </a:r>
          </a:p>
          <a:p>
            <a:r>
              <a:rPr lang="de-DE" dirty="0"/>
              <a:t>Or directly paste these into Var. Gpz increments: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CC40B-C716-2EF2-65E2-3B11C37776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621" t="73231" r="4750" b="3000"/>
          <a:stretch>
            <a:fillRect/>
          </a:stretch>
        </p:blipFill>
        <p:spPr>
          <a:xfrm>
            <a:off x="838200" y="3301750"/>
            <a:ext cx="9191782" cy="331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047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CB98B-772F-36A8-DD2F-DB5A29647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93" y="315964"/>
            <a:ext cx="10515600" cy="1325563"/>
          </a:xfrm>
        </p:spPr>
        <p:txBody>
          <a:bodyPr/>
          <a:lstStyle/>
          <a:p>
            <a:r>
              <a:rPr lang="de-DE" dirty="0"/>
              <a:t>NMR-Device Settings    GPZ6</a:t>
            </a:r>
            <a:br>
              <a:rPr lang="de-DE" dirty="0"/>
            </a:br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EDF3BF-C059-A989-53ED-E206BDC9FFE9}"/>
              </a:ext>
            </a:extLst>
          </p:cNvPr>
          <p:cNvSpPr txBox="1"/>
          <p:nvPr/>
        </p:nvSpPr>
        <p:spPr>
          <a:xfrm>
            <a:off x="153547" y="4932939"/>
            <a:ext cx="82181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Result: </a:t>
            </a:r>
          </a:p>
          <a:p>
            <a:r>
              <a:rPr lang="de-DE" dirty="0"/>
              <a:t>0.029650, 0.065230, 0.100810, 0.136390, 0.171970, 0.207550, 0.243130, 0.278710, 0.314290, 0.349870, 0.385450, 0.421030, 0.456610, 0.492190, 0.527770, 0.563350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AC327B-48A8-6C1D-8A97-96EE97951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3" y="2290707"/>
            <a:ext cx="8185963" cy="2209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ED0473-D569-56E1-8BDF-26E6770414A5}"/>
              </a:ext>
            </a:extLst>
          </p:cNvPr>
          <p:cNvSpPr txBox="1"/>
          <p:nvPr/>
        </p:nvSpPr>
        <p:spPr>
          <a:xfrm>
            <a:off x="8558496" y="2290707"/>
            <a:ext cx="36335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Max Pulse-Gradient NMR-Device Strength = 0.593 T/m </a:t>
            </a:r>
          </a:p>
          <a:p>
            <a:endParaRPr lang="de-DE" dirty="0"/>
          </a:p>
          <a:p>
            <a:r>
              <a:rPr lang="de-DE" dirty="0"/>
              <a:t>Max %</a:t>
            </a:r>
          </a:p>
          <a:p>
            <a:endParaRPr lang="de-DE" dirty="0"/>
          </a:p>
          <a:p>
            <a:r>
              <a:rPr lang="de-DE" dirty="0"/>
              <a:t>Min % </a:t>
            </a:r>
          </a:p>
          <a:p>
            <a:endParaRPr lang="de-DE" dirty="0"/>
          </a:p>
          <a:p>
            <a:r>
              <a:rPr lang="de-DE" dirty="0"/>
              <a:t>16 equally distant increments from beginning (5% to end 95%)</a:t>
            </a:r>
          </a:p>
          <a:p>
            <a:endParaRPr lang="de-DE" dirty="0"/>
          </a:p>
          <a:p>
            <a:r>
              <a:rPr lang="de-DE" dirty="0"/>
              <a:t>Once pressing </a:t>
            </a:r>
            <a:r>
              <a:rPr lang="de-DE" dirty="0">
                <a:highlight>
                  <a:srgbClr val="FFFF00"/>
                </a:highlight>
              </a:rPr>
              <a:t>Compute</a:t>
            </a:r>
            <a:r>
              <a:rPr lang="de-DE" dirty="0"/>
              <a:t> the increment is automatically being importet into var. Gpz6 entry window </a:t>
            </a:r>
          </a:p>
        </p:txBody>
      </p:sp>
    </p:spTree>
    <p:extLst>
      <p:ext uri="{BB962C8B-B14F-4D97-AF65-F5344CB8AC3E}">
        <p14:creationId xmlns:p14="http://schemas.microsoft.com/office/powerpoint/2010/main" val="3586926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55A2B-8664-61AA-1752-F00331AE7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E30A1-B577-CB7D-2A96-E329B3E35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93" y="315964"/>
            <a:ext cx="10515600" cy="1325563"/>
          </a:xfrm>
        </p:spPr>
        <p:txBody>
          <a:bodyPr/>
          <a:lstStyle/>
          <a:p>
            <a:r>
              <a:rPr lang="de-DE" dirty="0"/>
              <a:t>NMR-Device Settings    P30</a:t>
            </a:r>
            <a:br>
              <a:rPr lang="de-DE" dirty="0"/>
            </a:br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857540-D5AE-E039-852B-1890FDC4FBD0}"/>
              </a:ext>
            </a:extLst>
          </p:cNvPr>
          <p:cNvSpPr txBox="1"/>
          <p:nvPr/>
        </p:nvSpPr>
        <p:spPr>
          <a:xfrm>
            <a:off x="133883" y="4510711"/>
            <a:ext cx="82181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195.35, 429.77, 664.19, 898.60, 1133.02, 1367.44, 1601.86, 1830.26,2070.70, 2305.12, 2539.53, 2773.95, 3008.37, 3242.79, 3477.21, 3711.63</a:t>
            </a:r>
          </a:p>
          <a:p>
            <a:r>
              <a:rPr lang="de-DE" dirty="0"/>
              <a:t>In Microseconds e.g.</a:t>
            </a:r>
          </a:p>
          <a:p>
            <a:endParaRPr lang="de-DE" dirty="0"/>
          </a:p>
          <a:p>
            <a:r>
              <a:rPr lang="de-DE" dirty="0"/>
              <a:t>Depending on what </a:t>
            </a:r>
            <a:r>
              <a:rPr lang="de-DE" dirty="0">
                <a:highlight>
                  <a:srgbClr val="FFFF00"/>
                </a:highlight>
              </a:rPr>
              <a:t>Radiobutton</a:t>
            </a:r>
            <a:r>
              <a:rPr lang="de-DE" dirty="0"/>
              <a:t> (uS, ms, S) they are AUTOMATICALLY converted to Seconds and used for calculations (in seconds) when generating the fit using the </a:t>
            </a:r>
            <a:r>
              <a:rPr lang="de-DE" dirty="0">
                <a:highlight>
                  <a:srgbClr val="FFFF00"/>
                </a:highlight>
              </a:rPr>
              <a:t>Generate Fit </a:t>
            </a:r>
            <a:r>
              <a:rPr lang="de-DE" dirty="0"/>
              <a:t>Button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75E208-23BC-BA0B-DD72-078792FE636F}"/>
              </a:ext>
            </a:extLst>
          </p:cNvPr>
          <p:cNvSpPr txBox="1"/>
          <p:nvPr/>
        </p:nvSpPr>
        <p:spPr>
          <a:xfrm>
            <a:off x="8558496" y="2290707"/>
            <a:ext cx="36335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Max Pulse-Gradient NMR-Device Strength = 0.593 T/m </a:t>
            </a:r>
          </a:p>
          <a:p>
            <a:endParaRPr lang="de-DE" dirty="0"/>
          </a:p>
          <a:p>
            <a:r>
              <a:rPr lang="de-DE" dirty="0"/>
              <a:t>Max %</a:t>
            </a:r>
          </a:p>
          <a:p>
            <a:endParaRPr lang="de-DE" dirty="0"/>
          </a:p>
          <a:p>
            <a:r>
              <a:rPr lang="de-DE" dirty="0"/>
              <a:t>Min % </a:t>
            </a:r>
          </a:p>
          <a:p>
            <a:endParaRPr lang="de-DE" dirty="0"/>
          </a:p>
          <a:p>
            <a:r>
              <a:rPr lang="de-DE" dirty="0"/>
              <a:t>16 equally distant increments from beginning (5% to end 95%)</a:t>
            </a:r>
          </a:p>
          <a:p>
            <a:endParaRPr lang="de-DE" dirty="0"/>
          </a:p>
          <a:p>
            <a:r>
              <a:rPr lang="de-DE" dirty="0"/>
              <a:t>Once pressing </a:t>
            </a:r>
            <a:r>
              <a:rPr lang="de-DE" dirty="0">
                <a:highlight>
                  <a:srgbClr val="FFFF00"/>
                </a:highlight>
              </a:rPr>
              <a:t>Compute</a:t>
            </a:r>
            <a:r>
              <a:rPr lang="de-DE" dirty="0"/>
              <a:t> the increment is automatically being importet into var. Gpz6 entry window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FBDF41-E354-E671-A928-0EC553711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5" y="1807523"/>
            <a:ext cx="8242372" cy="218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745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1C7B-0087-EE0A-D92C-D608003D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2" y="132172"/>
            <a:ext cx="11097359" cy="1325563"/>
          </a:xfrm>
        </p:spPr>
        <p:txBody>
          <a:bodyPr/>
          <a:lstStyle/>
          <a:p>
            <a:r>
              <a:rPr lang="de-DE" dirty="0"/>
              <a:t>Where everything comes together – </a:t>
            </a:r>
            <a:r>
              <a:rPr lang="de-DE" dirty="0">
                <a:highlight>
                  <a:srgbClr val="FFFF00"/>
                </a:highlight>
              </a:rPr>
              <a:t>Generate Fit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21A66-3C73-7792-EB67-0FB4BD59B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40" y="3262440"/>
            <a:ext cx="11679119" cy="18670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EB4D9A-3FC8-29CC-72B6-D5872C021485}"/>
              </a:ext>
            </a:extLst>
          </p:cNvPr>
          <p:cNvSpPr txBox="1"/>
          <p:nvPr/>
        </p:nvSpPr>
        <p:spPr>
          <a:xfrm>
            <a:off x="256440" y="1690688"/>
            <a:ext cx="97098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The initial idea was to have one button which summarizes all caluclations and graph creation.</a:t>
            </a:r>
            <a:br>
              <a:rPr lang="de-DE" dirty="0"/>
            </a:br>
            <a:br>
              <a:rPr lang="de-DE" dirty="0"/>
            </a:br>
            <a:r>
              <a:rPr lang="de-DE" dirty="0"/>
              <a:t>I was only able to create the calculation of the D-fit resulting in the succesfull calculation of the diffusion coefficient (without Standard deviation)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85804C-57E6-8B96-050B-C41C8D36543B}"/>
              </a:ext>
            </a:extLst>
          </p:cNvPr>
          <p:cNvCxnSpPr>
            <a:cxnSpLocks/>
          </p:cNvCxnSpPr>
          <p:nvPr/>
        </p:nvCxnSpPr>
        <p:spPr>
          <a:xfrm flipV="1">
            <a:off x="11527251" y="4192240"/>
            <a:ext cx="0" cy="11171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9E581-7188-3A86-05A5-BFBD0E2854E0}"/>
              </a:ext>
            </a:extLst>
          </p:cNvPr>
          <p:cNvSpPr txBox="1"/>
          <p:nvPr/>
        </p:nvSpPr>
        <p:spPr>
          <a:xfrm>
            <a:off x="10204303" y="5404813"/>
            <a:ext cx="20073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Review dataframe (normalized integral)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7F9456-687D-4BCF-2372-50AA64BD3F15}"/>
              </a:ext>
            </a:extLst>
          </p:cNvPr>
          <p:cNvCxnSpPr>
            <a:cxnSpLocks/>
          </p:cNvCxnSpPr>
          <p:nvPr/>
        </p:nvCxnSpPr>
        <p:spPr>
          <a:xfrm flipV="1">
            <a:off x="6095999" y="4444181"/>
            <a:ext cx="1769807" cy="13273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D8B7572-319B-2ED5-B408-21F79CE2E912}"/>
              </a:ext>
            </a:extLst>
          </p:cNvPr>
          <p:cNvSpPr txBox="1"/>
          <p:nvPr/>
        </p:nvSpPr>
        <p:spPr>
          <a:xfrm>
            <a:off x="4088663" y="5694864"/>
            <a:ext cx="20073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Set Graph Settings</a:t>
            </a:r>
          </a:p>
          <a:p>
            <a:r>
              <a:rPr lang="de-DE" dirty="0">
                <a:highlight>
                  <a:srgbClr val="FF0000"/>
                </a:highlight>
              </a:rPr>
              <a:t>NOT WORKING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0F45B4-2264-EEA8-4A25-54B19ACA7BBD}"/>
              </a:ext>
            </a:extLst>
          </p:cNvPr>
          <p:cNvCxnSpPr>
            <a:cxnSpLocks/>
          </p:cNvCxnSpPr>
          <p:nvPr/>
        </p:nvCxnSpPr>
        <p:spPr>
          <a:xfrm flipV="1">
            <a:off x="904568" y="4316361"/>
            <a:ext cx="0" cy="12683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2EED14E-B60C-EE3F-3C20-CC50CA482B7D}"/>
              </a:ext>
            </a:extLst>
          </p:cNvPr>
          <p:cNvSpPr txBox="1"/>
          <p:nvPr/>
        </p:nvSpPr>
        <p:spPr>
          <a:xfrm>
            <a:off x="110611" y="5581343"/>
            <a:ext cx="2681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highlight>
                  <a:srgbClr val="FF0000"/>
                </a:highlight>
              </a:rPr>
              <a:t>Relict from previous versions!! See next slide</a:t>
            </a:r>
          </a:p>
        </p:txBody>
      </p:sp>
    </p:spTree>
    <p:extLst>
      <p:ext uri="{BB962C8B-B14F-4D97-AF65-F5344CB8AC3E}">
        <p14:creationId xmlns:p14="http://schemas.microsoft.com/office/powerpoint/2010/main" val="1891608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4CEAC-49E3-890A-D5B7-E8B49A859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55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e-DE" dirty="0"/>
              <a:t>Result</a:t>
            </a:r>
            <a:br>
              <a:rPr lang="de-DE" dirty="0"/>
            </a:br>
            <a:br>
              <a:rPr lang="de-DE" dirty="0"/>
            </a:br>
            <a:r>
              <a:rPr lang="de-DE" dirty="0"/>
              <a:t>Diffusion Coefficient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heavily depending on correct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0B4D37-2887-D3DA-4F94-FAF3CE3CC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92" y="3236123"/>
            <a:ext cx="10093311" cy="175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44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3D873-9424-35C6-1521-D165F36E2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Global Fit – A tragedy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FFACC2-8846-10F8-E13A-0E623FD4D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23" y="1402081"/>
            <a:ext cx="11881554" cy="534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676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3F6C5-6395-8F85-57C2-C3B34C9FA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Global fit – combine multiple datasets &amp; fits into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43B71-1E3C-BE03-C6B2-D374EB9E9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8529" y="1609315"/>
            <a:ext cx="3016045" cy="5066788"/>
          </a:xfrm>
        </p:spPr>
        <p:txBody>
          <a:bodyPr>
            <a:normAutofit/>
          </a:bodyPr>
          <a:lstStyle/>
          <a:p>
            <a:r>
              <a:rPr lang="de-DE" sz="2000" dirty="0"/>
              <a:t>Implementing functions like automatic line addition and file naming when adding multiple files has not worked.</a:t>
            </a:r>
          </a:p>
          <a:p>
            <a:r>
              <a:rPr lang="de-DE" sz="2000" dirty="0"/>
              <a:t>Really work intensive and not worth the time </a:t>
            </a:r>
          </a:p>
          <a:p>
            <a:r>
              <a:rPr lang="de-DE" sz="2000" b="1" i="1" dirty="0">
                <a:solidFill>
                  <a:srgbClr val="FF0000"/>
                </a:solidFill>
              </a:rPr>
              <a:t>V_10_1 </a:t>
            </a:r>
            <a:r>
              <a:rPr lang="de-DE" sz="2000" dirty="0"/>
              <a:t>is still worth exploring due to the automatic functionalities of adding and removing lines which are quite satisfying function </a:t>
            </a:r>
          </a:p>
          <a:p>
            <a:r>
              <a:rPr lang="de-DE" sz="2000" dirty="0">
                <a:highlight>
                  <a:srgbClr val="FF0000"/>
                </a:highlight>
              </a:rPr>
              <a:t>Unsuccesfull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6445A1-285C-39C9-ECCA-C5FE6FADE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3" y="1887793"/>
            <a:ext cx="8800696" cy="395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502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EA806-4A9A-E6B1-A4FD-4FA6EC653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Graphical Fit – A second tragedy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84521-F691-D83E-9DA4-201360F29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Has not worked</a:t>
            </a:r>
          </a:p>
          <a:p>
            <a:endParaRPr lang="de-DE" dirty="0"/>
          </a:p>
          <a:p>
            <a:r>
              <a:rPr lang="de-DE" dirty="0"/>
              <a:t>V15 has some relicts within the code which show some desperate tries, but as well: </a:t>
            </a:r>
            <a:r>
              <a:rPr lang="de-DE" dirty="0">
                <a:highlight>
                  <a:srgbClr val="FF0000"/>
                </a:highlight>
              </a:rPr>
              <a:t>UNSUCCESFULL</a:t>
            </a:r>
          </a:p>
          <a:p>
            <a:endParaRPr lang="de-DE" dirty="0">
              <a:highlight>
                <a:srgbClr val="FF0000"/>
              </a:highlight>
            </a:endParaRPr>
          </a:p>
          <a:p>
            <a:r>
              <a:rPr lang="de-DE" dirty="0">
                <a:highlight>
                  <a:srgbClr val="FF0000"/>
                </a:highlight>
              </a:rPr>
              <a:t>Graphical Fit is critical for fit quality analysis, at least visually, numerical residual results would also provide insights, yet its easier to detect visually </a:t>
            </a:r>
          </a:p>
        </p:txBody>
      </p:sp>
    </p:spTree>
    <p:extLst>
      <p:ext uri="{BB962C8B-B14F-4D97-AF65-F5344CB8AC3E}">
        <p14:creationId xmlns:p14="http://schemas.microsoft.com/office/powerpoint/2010/main" val="1048834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6F5FC-A61F-E443-25C8-7DC1E5676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Summary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5516D-AE2F-4006-2E21-61A8C0C6F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Project was </a:t>
            </a:r>
            <a:r>
              <a:rPr lang="de-DE" dirty="0">
                <a:highlight>
                  <a:srgbClr val="FF0000"/>
                </a:highlight>
              </a:rPr>
              <a:t>not succesfull regarding real world application</a:t>
            </a:r>
            <a:r>
              <a:rPr lang="de-DE" dirty="0"/>
              <a:t>, which was the initial aim of the project</a:t>
            </a:r>
          </a:p>
          <a:p>
            <a:r>
              <a:rPr lang="de-DE" dirty="0"/>
              <a:t>Project has tought me </a:t>
            </a:r>
            <a:r>
              <a:rPr lang="de-DE" dirty="0">
                <a:highlight>
                  <a:srgbClr val="00FF00"/>
                </a:highlight>
              </a:rPr>
              <a:t>incredible amounts of python </a:t>
            </a:r>
            <a:r>
              <a:rPr lang="de-DE" dirty="0"/>
              <a:t>knowledge and integrating functions to each other. Calling functions and overall planning of automation and ideas behind using script based language to automate result evaluation.</a:t>
            </a:r>
          </a:p>
          <a:p>
            <a:r>
              <a:rPr lang="de-DE" dirty="0"/>
              <a:t>For not having had any previous experience in python. I am still proud, yet unsatisfied by time constraints e.g. exam periods / early exchange semesters start. </a:t>
            </a:r>
          </a:p>
          <a:p>
            <a:r>
              <a:rPr lang="de-DE" dirty="0"/>
              <a:t>Overall hours invested: at least 50-60 h +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1331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</Words>
  <Application>Microsoft Office PowerPoint</Application>
  <PresentationFormat>Widescreen</PresentationFormat>
  <Paragraphs>134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URW DIN Regular</vt:lpstr>
      <vt:lpstr>Office Theme</vt:lpstr>
      <vt:lpstr>DOSYFACE - Diffusion Order Spectroscopy - Interface</vt:lpstr>
      <vt:lpstr>Mathematic Principles Behind DOSYFACE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D20 – Diffusion time [seconds] 1H – 100 ms = 0.1 s</vt:lpstr>
      <vt:lpstr>Fixed Variables Window / Converter</vt:lpstr>
      <vt:lpstr>Increment Settings</vt:lpstr>
      <vt:lpstr>Gpz6 – X – Combo means:  Increments of gpz6-(Gradient strength accross all datapoints)</vt:lpstr>
      <vt:lpstr>NMR-Device Settings    GPZ6 </vt:lpstr>
      <vt:lpstr>NMR-Device Settings    P30 </vt:lpstr>
      <vt:lpstr>Where everything comes together – Generate Fit</vt:lpstr>
      <vt:lpstr>Result  Diffusion Coefficient   heavily depending on correct values</vt:lpstr>
      <vt:lpstr>Global Fit – A tragedy</vt:lpstr>
      <vt:lpstr>Global fit – combine multiple datasets &amp; fits into one</vt:lpstr>
      <vt:lpstr>Graphical Fit – A second tragedy</vt:lpstr>
      <vt:lpstr>Summary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Lemos Wimmer</dc:creator>
  <cp:lastModifiedBy>Bruno Lemos Wimmer</cp:lastModifiedBy>
  <cp:revision>2</cp:revision>
  <dcterms:created xsi:type="dcterms:W3CDTF">2025-08-18T17:02:09Z</dcterms:created>
  <dcterms:modified xsi:type="dcterms:W3CDTF">2025-08-18T18:20:17Z</dcterms:modified>
</cp:coreProperties>
</file>